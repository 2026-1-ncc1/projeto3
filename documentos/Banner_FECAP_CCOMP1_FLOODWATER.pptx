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2" roundtripDataSignature="AMtx7mjs+MEjzIp+qYGKpQZtDwTDhLOR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E5565D-5C99-4AEA-8E70-EA1966967C23}" v="553" dt="2026-05-15T00:04:37.5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4366"/>
        <p:guide pos="5488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customschemas.google.com/relationships/presentationmetadata" Target="metadata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4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hyperlink" Target="https://docs.unity3d.com/Manual/index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343430" y="30018709"/>
            <a:ext cx="12527228" cy="9204316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endParaRPr sz="6769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lang="en-US" sz="4762" b="1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lang="en-US" sz="507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"/>
          <p:cNvGrpSpPr/>
          <p:nvPr/>
        </p:nvGrpSpPr>
        <p:grpSpPr>
          <a:xfrm rot="16200000">
            <a:off x="2494601" y="7417265"/>
            <a:ext cx="10206805" cy="14355430"/>
            <a:chOff x="0" y="-47625"/>
            <a:chExt cx="958980" cy="1348764"/>
          </a:xfrm>
        </p:grpSpPr>
        <p:sp>
          <p:nvSpPr>
            <p:cNvPr id="119" name="Google Shape;119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endParaRPr sz="67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endParaRPr sz="6769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"/>
          <p:cNvSpPr txBox="1"/>
          <p:nvPr/>
        </p:nvSpPr>
        <p:spPr>
          <a:xfrm>
            <a:off x="-1" y="4700167"/>
            <a:ext cx="288138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lang="en-US" sz="11434" b="1">
                <a:latin typeface="Open Sans"/>
                <a:ea typeface="Open Sans"/>
                <a:cs typeface="Open Sans"/>
                <a:sym typeface="Open Sans"/>
              </a:rPr>
              <a:t>JOGO FLOOD WATER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2584396" y="6475422"/>
            <a:ext cx="26501617" cy="2049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>
                <a:latin typeface="Open Sans"/>
                <a:ea typeface="Open Sans"/>
                <a:cs typeface="Open Sans"/>
                <a:sym typeface="Open Sans"/>
              </a:rPr>
              <a:t>Guilherme Alves, Thomaz Melo, Luigi Colaneri, Marcos Paulo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ct val="140025"/>
              </a:lnSpc>
              <a:buSzPts val="4762"/>
            </a:pPr>
            <a:r>
              <a:rPr lang="en-US" sz="4750" b="1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</a:t>
            </a:r>
            <a:r>
              <a:rPr lang="en-US" sz="4750" b="1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4750" dirty="0">
                <a:ea typeface="Open Sans"/>
                <a:sym typeface="Open Sans"/>
              </a:rPr>
              <a:t>Francisco Escobar Renata Muniz Joao Trencher Victor Rosetti Gilles Pedroza</a:t>
            </a:r>
            <a:endParaRPr lang="en-US" sz="475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27" name="Google Shape;127;p1"/>
          <p:cNvSpPr txBox="1"/>
          <p:nvPr/>
        </p:nvSpPr>
        <p:spPr>
          <a:xfrm>
            <a:off x="15353293" y="23110704"/>
            <a:ext cx="12433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lang="en-US" sz="4762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"/>
          <p:cNvSpPr txBox="1"/>
          <p:nvPr/>
        </p:nvSpPr>
        <p:spPr>
          <a:xfrm>
            <a:off x="15966975" y="31719975"/>
            <a:ext cx="11652000" cy="2511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/>
            <a:r>
              <a:rPr lang="en-US" sz="3400">
                <a:solidFill>
                  <a:schemeClr val="hlink"/>
                </a:solidFill>
              </a:rPr>
              <a:t>Unity Documentation: </a:t>
            </a:r>
            <a:r>
              <a:rPr lang="en-US" sz="3400" dirty="0">
                <a:solidFill>
                  <a:schemeClr val="hlink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https://docs.unity3d.com/Manual/index.html</a:t>
            </a:r>
            <a:r>
              <a:rPr lang="en-US" sz="3400" dirty="0">
                <a:solidFill>
                  <a:schemeClr val="hlink"/>
                </a:solidFill>
              </a:rPr>
              <a:t>.</a:t>
            </a:r>
            <a:endParaRPr lang="pt-BR" dirty="0">
              <a:solidFill>
                <a:schemeClr val="hlink"/>
              </a:solidFill>
            </a:endParaRPr>
          </a:p>
          <a:p>
            <a:pPr algn="just">
              <a:lnSpc>
                <a:spcPct val="140000"/>
              </a:lnSpc>
            </a:pPr>
            <a:endParaRPr lang="en-US" sz="3400" dirty="0">
              <a:solidFill>
                <a:schemeClr val="hlink"/>
              </a:solidFill>
            </a:endParaRPr>
          </a:p>
          <a:p>
            <a:pPr algn="just">
              <a:lnSpc>
                <a:spcPct val="140000"/>
              </a:lnSpc>
              <a:buSzPts val="3430"/>
            </a:pPr>
            <a:endParaRPr lang="en-US" sz="3400"/>
          </a:p>
        </p:txBody>
      </p:sp>
      <p:sp>
        <p:nvSpPr>
          <p:cNvPr id="133" name="Google Shape;133;p1"/>
          <p:cNvSpPr txBox="1"/>
          <p:nvPr/>
        </p:nvSpPr>
        <p:spPr>
          <a:xfrm>
            <a:off x="1595875" y="31719850"/>
            <a:ext cx="12562800" cy="644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Unity — engine utilizada para desenvolvimento do jogo em 3D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C# — linguagem de programação usada para toda a lógica do jogo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Visual Studio Code — editor de código utilizado pelo grupo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446405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3430"/>
              <a:buFont typeface="Open Sans"/>
              <a:buChar char="●"/>
            </a:pPr>
            <a:r>
              <a:rPr lang="en-US" sz="3430">
                <a:latin typeface="Open Sans"/>
                <a:ea typeface="Open Sans"/>
                <a:cs typeface="Open Sans"/>
                <a:sym typeface="Open Sans"/>
              </a:rPr>
              <a:t>GitHub — usado para controle de versão e organização do projeto entre os integrantes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4" name="Google Shape;134;p1"/>
          <p:cNvSpPr txBox="1"/>
          <p:nvPr/>
        </p:nvSpPr>
        <p:spPr>
          <a:xfrm>
            <a:off x="1595870" y="10749184"/>
            <a:ext cx="12562800" cy="732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n-US" sz="3400" dirty="0">
                <a:ea typeface="Open Sans"/>
              </a:rPr>
              <a:t>A </a:t>
            </a:r>
            <a:r>
              <a:rPr lang="en-US" sz="3400" dirty="0" err="1">
                <a:ea typeface="Open Sans"/>
              </a:rPr>
              <a:t>YggBrasil</a:t>
            </a:r>
            <a:r>
              <a:rPr lang="en-US" sz="3400" dirty="0">
                <a:ea typeface="Open Sans"/>
              </a:rPr>
              <a:t> e a Messier </a:t>
            </a:r>
            <a:r>
              <a:rPr lang="en-US" sz="3400" dirty="0" err="1">
                <a:ea typeface="Open Sans"/>
              </a:rPr>
              <a:t>buscam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jogos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originais</a:t>
            </a:r>
            <a:r>
              <a:rPr lang="en-US" sz="3400" dirty="0">
                <a:ea typeface="Open Sans"/>
              </a:rPr>
              <a:t> para </a:t>
            </a:r>
            <a:r>
              <a:rPr lang="en-US" sz="3400" dirty="0" err="1">
                <a:ea typeface="Open Sans"/>
              </a:rPr>
              <a:t>compor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seu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catálogo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produtos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digitais</a:t>
            </a:r>
            <a:r>
              <a:rPr lang="en-US" sz="3400" dirty="0">
                <a:ea typeface="Open Sans"/>
              </a:rPr>
              <a:t> Em </a:t>
            </a:r>
            <a:r>
              <a:rPr lang="en-US" sz="3400" dirty="0" err="1">
                <a:ea typeface="Open Sans"/>
              </a:rPr>
              <a:t>parceria</a:t>
            </a:r>
            <a:r>
              <a:rPr lang="en-US" sz="3400" dirty="0">
                <a:ea typeface="Open Sans"/>
              </a:rPr>
              <a:t> com a FECAP o . , </a:t>
            </a:r>
            <a:r>
              <a:rPr lang="en-US" sz="3400" dirty="0" err="1">
                <a:ea typeface="Open Sans"/>
              </a:rPr>
              <a:t>desafio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proposto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às</a:t>
            </a:r>
            <a:r>
              <a:rPr lang="en-US" sz="3400" dirty="0">
                <a:ea typeface="Open Sans"/>
              </a:rPr>
              <a:t> equipes do </a:t>
            </a:r>
            <a:r>
              <a:rPr lang="en-US" sz="3400" dirty="0" err="1">
                <a:ea typeface="Open Sans"/>
              </a:rPr>
              <a:t>primeiro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semestre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foi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criar</a:t>
            </a:r>
            <a:r>
              <a:rPr lang="en-US" sz="3400" dirty="0">
                <a:ea typeface="Open Sans"/>
              </a:rPr>
              <a:t> um </a:t>
            </a:r>
            <a:r>
              <a:rPr lang="en-US" sz="3400" dirty="0" err="1">
                <a:ea typeface="Open Sans"/>
              </a:rPr>
              <a:t>jogo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autoral</a:t>
            </a:r>
            <a:r>
              <a:rPr lang="en-US" sz="3400" dirty="0">
                <a:ea typeface="Open Sans"/>
              </a:rPr>
              <a:t> do zero com visual </a:t>
            </a:r>
            <a:r>
              <a:rPr lang="en-US" sz="3400" dirty="0" err="1">
                <a:ea typeface="Open Sans"/>
              </a:rPr>
              <a:t>próprio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regras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coerentes</a:t>
            </a:r>
            <a:r>
              <a:rPr lang="en-US" sz="3400" dirty="0">
                <a:ea typeface="Open Sans"/>
              </a:rPr>
              <a:t> e </a:t>
            </a:r>
            <a:r>
              <a:rPr lang="en-US" sz="3400" dirty="0" err="1">
                <a:ea typeface="Open Sans"/>
              </a:rPr>
              <a:t>uma</a:t>
            </a:r>
            <a:r>
              <a:rPr lang="en-US" sz="3400" dirty="0">
                <a:ea typeface="Open Sans"/>
              </a:rPr>
              <a:t> , </a:t>
            </a:r>
            <a:r>
              <a:rPr lang="en-US" sz="3400" dirty="0" err="1">
                <a:ea typeface="Open Sans"/>
              </a:rPr>
              <a:t>jogabilidade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que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funcione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verdade</a:t>
            </a:r>
            <a:r>
              <a:rPr lang="en-US" sz="3400" dirty="0">
                <a:ea typeface="Open Sans"/>
              </a:rPr>
              <a:t> .</a:t>
            </a:r>
            <a:endParaRPr lang="pt-BR" dirty="0">
              <a:ea typeface="Open Sans"/>
            </a:endParaRPr>
          </a:p>
          <a:p>
            <a:pPr algn="just">
              <a:lnSpc>
                <a:spcPct val="140000"/>
              </a:lnSpc>
            </a:pPr>
            <a:endParaRPr lang="en-US" sz="3400" dirty="0">
              <a:ea typeface="Open Sans"/>
            </a:endParaRPr>
          </a:p>
          <a:p>
            <a:pPr algn="just">
              <a:lnSpc>
                <a:spcPct val="140000"/>
              </a:lnSpc>
            </a:pPr>
            <a:r>
              <a:rPr lang="en-US" sz="3400" dirty="0">
                <a:ea typeface="Open Sans"/>
              </a:rPr>
              <a:t> Mais do </a:t>
            </a:r>
            <a:r>
              <a:rPr lang="en-US" sz="3400" dirty="0" err="1">
                <a:ea typeface="Open Sans"/>
              </a:rPr>
              <a:t>que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entregar</a:t>
            </a:r>
            <a:r>
              <a:rPr lang="en-US" sz="3400" dirty="0">
                <a:ea typeface="Open Sans"/>
              </a:rPr>
              <a:t> algo </a:t>
            </a:r>
            <a:r>
              <a:rPr lang="en-US" sz="3400" dirty="0" err="1">
                <a:ea typeface="Open Sans"/>
              </a:rPr>
              <a:t>funcional</a:t>
            </a:r>
            <a:r>
              <a:rPr lang="en-US" sz="3400" dirty="0">
                <a:ea typeface="Open Sans"/>
              </a:rPr>
              <a:t> o </a:t>
            </a:r>
            <a:r>
              <a:rPr lang="en-US" sz="3400" dirty="0" err="1">
                <a:ea typeface="Open Sans"/>
              </a:rPr>
              <a:t>trabalho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precisava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refletir</a:t>
            </a:r>
            <a:r>
              <a:rPr lang="en-US" sz="3400" dirty="0">
                <a:ea typeface="Open Sans"/>
              </a:rPr>
              <a:t> , o </a:t>
            </a:r>
            <a:r>
              <a:rPr lang="en-US" sz="3400" dirty="0" err="1">
                <a:ea typeface="Open Sans"/>
              </a:rPr>
              <a:t>que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foi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aprendido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nas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disciplinas</a:t>
            </a:r>
            <a:r>
              <a:rPr lang="en-US" sz="3400" dirty="0">
                <a:ea typeface="Open Sans"/>
              </a:rPr>
              <a:t> do </a:t>
            </a:r>
            <a:r>
              <a:rPr lang="en-US" sz="3400" dirty="0" err="1">
                <a:ea typeface="Open Sans"/>
              </a:rPr>
              <a:t>semestre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unindo</a:t>
            </a:r>
            <a:r>
              <a:rPr lang="en-US" sz="3400" dirty="0">
                <a:ea typeface="Open Sans"/>
              </a:rPr>
              <a:t> , </a:t>
            </a:r>
            <a:r>
              <a:rPr lang="en-US" sz="3400" dirty="0" err="1">
                <a:ea typeface="Open Sans"/>
              </a:rPr>
              <a:t>raciocínio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lógico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programação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matemática</a:t>
            </a:r>
            <a:r>
              <a:rPr lang="en-US" sz="3400" dirty="0">
                <a:ea typeface="Open Sans"/>
              </a:rPr>
              <a:t> e senso </a:t>
            </a:r>
            <a:r>
              <a:rPr lang="en-US" sz="3400" dirty="0" err="1">
                <a:ea typeface="Open Sans"/>
              </a:rPr>
              <a:t>crítico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em</a:t>
            </a:r>
            <a:r>
              <a:rPr lang="en-US" sz="3400" dirty="0">
                <a:ea typeface="Open Sans"/>
              </a:rPr>
              <a:t> , , um </a:t>
            </a:r>
            <a:r>
              <a:rPr lang="en-US" sz="3400" dirty="0" err="1">
                <a:ea typeface="Open Sans"/>
              </a:rPr>
              <a:t>único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produto</a:t>
            </a:r>
            <a:r>
              <a:rPr lang="en-US" sz="3400" dirty="0">
                <a:ea typeface="Open Sans"/>
              </a:rPr>
              <a:t> . </a:t>
            </a:r>
            <a:endParaRPr lang="pt-BR"/>
          </a:p>
        </p:txBody>
      </p:sp>
      <p:sp>
        <p:nvSpPr>
          <p:cNvPr id="135" name="Google Shape;135;p1"/>
          <p:cNvSpPr txBox="1"/>
          <p:nvPr/>
        </p:nvSpPr>
        <p:spPr>
          <a:xfrm>
            <a:off x="1570066" y="21125709"/>
            <a:ext cx="12562800" cy="6592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n-US" sz="3400" dirty="0">
                <a:ea typeface="Open Sans"/>
              </a:rPr>
              <a:t>O </a:t>
            </a:r>
            <a:r>
              <a:rPr lang="en-US" sz="3400" dirty="0" err="1">
                <a:ea typeface="Open Sans"/>
              </a:rPr>
              <a:t>projeto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aceitava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diferentes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estilos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jogo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como</a:t>
            </a:r>
            <a:r>
              <a:rPr lang="en-US" sz="3400" dirty="0">
                <a:ea typeface="Open Sans"/>
              </a:rPr>
              <a:t> puzzles , , </a:t>
            </a:r>
            <a:r>
              <a:rPr lang="en-US" sz="3400" dirty="0" err="1">
                <a:ea typeface="Open Sans"/>
              </a:rPr>
              <a:t>jogos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tabuleiro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digitais</a:t>
            </a:r>
            <a:r>
              <a:rPr lang="en-US" sz="3400" dirty="0">
                <a:ea typeface="Open Sans"/>
              </a:rPr>
              <a:t> point and click e casual games , . </a:t>
            </a:r>
            <a:r>
              <a:rPr lang="en-US" sz="3400" dirty="0" err="1">
                <a:ea typeface="Open Sans"/>
              </a:rPr>
              <a:t>A</a:t>
            </a:r>
            <a:r>
              <a:rPr lang="en-US" sz="3400" dirty="0">
                <a:ea typeface="Open Sans"/>
              </a:rPr>
              <a:t> equipe </a:t>
            </a:r>
            <a:r>
              <a:rPr lang="en-US" sz="3400" dirty="0" err="1">
                <a:ea typeface="Open Sans"/>
              </a:rPr>
              <a:t>optou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por</a:t>
            </a:r>
            <a:r>
              <a:rPr lang="en-US" sz="3400" dirty="0">
                <a:ea typeface="Open Sans"/>
              </a:rPr>
              <a:t> um puzzle de </a:t>
            </a:r>
            <a:r>
              <a:rPr lang="en-US" sz="3400" dirty="0" err="1">
                <a:ea typeface="Open Sans"/>
              </a:rPr>
              <a:t>sobrevivência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desenvolvido</a:t>
            </a:r>
            <a:r>
              <a:rPr lang="en-US" sz="3400" dirty="0">
                <a:ea typeface="Open Sans"/>
              </a:rPr>
              <a:t> Na engine Unity com </a:t>
            </a:r>
            <a:r>
              <a:rPr lang="en-US" sz="3400" dirty="0" err="1">
                <a:ea typeface="Open Sans"/>
              </a:rPr>
              <a:t>câmera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em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primeira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pessoa</a:t>
            </a:r>
            <a:r>
              <a:rPr lang="en-US" sz="3400" dirty="0">
                <a:ea typeface="Open Sans"/>
              </a:rPr>
              <a:t> e , </a:t>
            </a:r>
            <a:r>
              <a:rPr lang="en-US" sz="3400" dirty="0" err="1">
                <a:ea typeface="Open Sans"/>
              </a:rPr>
              <a:t>Programação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em</a:t>
            </a:r>
            <a:r>
              <a:rPr lang="en-US" sz="3400" dirty="0">
                <a:ea typeface="Open Sans"/>
              </a:rPr>
              <a:t> C #.</a:t>
            </a:r>
            <a:endParaRPr lang="pt-BR" dirty="0">
              <a:ea typeface="Open Sans"/>
            </a:endParaRPr>
          </a:p>
          <a:p>
            <a:pPr algn="just">
              <a:lnSpc>
                <a:spcPct val="140000"/>
              </a:lnSpc>
            </a:pPr>
            <a:endParaRPr lang="en-US" sz="3400" dirty="0">
              <a:ea typeface="Open Sans"/>
            </a:endParaRPr>
          </a:p>
          <a:p>
            <a:pPr algn="just">
              <a:lnSpc>
                <a:spcPct val="140000"/>
              </a:lnSpc>
            </a:pPr>
            <a:r>
              <a:rPr lang="en-US" sz="3400" dirty="0" err="1">
                <a:ea typeface="Open Sans"/>
              </a:rPr>
              <a:t>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escolha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partiu</a:t>
            </a:r>
            <a:r>
              <a:rPr lang="en-US" sz="3400" dirty="0">
                <a:ea typeface="Open Sans"/>
              </a:rPr>
              <a:t> da </a:t>
            </a:r>
            <a:r>
              <a:rPr lang="en-US" sz="3400" dirty="0" err="1">
                <a:ea typeface="Open Sans"/>
              </a:rPr>
              <a:t>intenção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criar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uma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experiência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que</a:t>
            </a:r>
            <a:r>
              <a:rPr lang="en-US" sz="3400" dirty="0">
                <a:ea typeface="Open Sans"/>
              </a:rPr>
              <a:t> fosse simples de </a:t>
            </a:r>
            <a:r>
              <a:rPr lang="en-US" sz="3400" dirty="0" err="1">
                <a:ea typeface="Open Sans"/>
              </a:rPr>
              <a:t>entender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mas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que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exigisse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atenção</a:t>
            </a:r>
            <a:r>
              <a:rPr lang="en-US" sz="3400" dirty="0">
                <a:ea typeface="Open Sans"/>
              </a:rPr>
              <a:t> , , </a:t>
            </a:r>
            <a:r>
              <a:rPr lang="en-US" sz="3400" dirty="0" err="1">
                <a:ea typeface="Open Sans"/>
              </a:rPr>
              <a:t>raciocínio</a:t>
            </a:r>
            <a:r>
              <a:rPr lang="en-US" sz="3400" dirty="0">
                <a:ea typeface="Open Sans"/>
              </a:rPr>
              <a:t> e </a:t>
            </a:r>
            <a:r>
              <a:rPr lang="en-US" sz="3400" dirty="0" err="1">
                <a:ea typeface="Open Sans"/>
              </a:rPr>
              <a:t>adaptação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constante</a:t>
            </a:r>
            <a:r>
              <a:rPr lang="en-US" sz="3400" dirty="0">
                <a:ea typeface="Open Sans"/>
              </a:rPr>
              <a:t> do </a:t>
            </a:r>
            <a:r>
              <a:rPr lang="en-US" sz="3400" dirty="0" err="1">
                <a:ea typeface="Open Sans"/>
              </a:rPr>
              <a:t>jogador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cada</a:t>
            </a:r>
            <a:r>
              <a:rPr lang="en-US" sz="3400" dirty="0">
                <a:ea typeface="Open Sans"/>
              </a:rPr>
              <a:t> nova </a:t>
            </a:r>
            <a:r>
              <a:rPr lang="en-US" sz="3400" dirty="0" err="1">
                <a:ea typeface="Open Sans"/>
              </a:rPr>
              <a:t>partida</a:t>
            </a:r>
            <a:r>
              <a:rPr lang="en-US" sz="3400" dirty="0">
                <a:ea typeface="Open Sans"/>
              </a:rPr>
              <a:t>. </a:t>
            </a:r>
            <a:endParaRPr lang="pt-BR"/>
          </a:p>
        </p:txBody>
      </p:sp>
      <p:sp>
        <p:nvSpPr>
          <p:cNvPr id="136" name="Google Shape;136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lang="en-US" sz="4955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617825" y="10880623"/>
            <a:ext cx="11904300" cy="8283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14999"/>
              </a:lnSpc>
              <a:spcBef>
                <a:spcPts val="1200"/>
              </a:spcBef>
            </a:pPr>
            <a:r>
              <a:rPr lang="en-US" sz="3400" dirty="0" err="1">
                <a:ea typeface="Open Sans"/>
              </a:rPr>
              <a:t>Desenvolvido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na</a:t>
            </a:r>
            <a:r>
              <a:rPr lang="en-US" sz="3400" dirty="0">
                <a:ea typeface="Open Sans"/>
              </a:rPr>
              <a:t> engine Unity Flood Water é um </a:t>
            </a:r>
            <a:r>
              <a:rPr lang="en-US" sz="3400" dirty="0" err="1">
                <a:ea typeface="Open Sans"/>
              </a:rPr>
              <a:t>jogo</a:t>
            </a:r>
            <a:r>
              <a:rPr lang="en-US" sz="3400" dirty="0">
                <a:ea typeface="Open Sans"/>
              </a:rPr>
              <a:t> , de puzzle e </a:t>
            </a:r>
            <a:r>
              <a:rPr lang="en-US" sz="3400" dirty="0" err="1">
                <a:ea typeface="Open Sans"/>
              </a:rPr>
              <a:t>sobrevivência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em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primeira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pessoa</a:t>
            </a:r>
            <a:r>
              <a:rPr lang="en-US" sz="3400" dirty="0">
                <a:ea typeface="Open Sans"/>
              </a:rPr>
              <a:t> . O </a:t>
            </a:r>
            <a:r>
              <a:rPr lang="en-US" sz="3400" dirty="0" err="1">
                <a:ea typeface="Open Sans"/>
              </a:rPr>
              <a:t>jogador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acorda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em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uma</a:t>
            </a:r>
            <a:r>
              <a:rPr lang="en-US" sz="3400" dirty="0">
                <a:ea typeface="Open Sans"/>
              </a:rPr>
              <a:t> casa </a:t>
            </a:r>
            <a:r>
              <a:rPr lang="en-US" sz="3400" dirty="0" err="1">
                <a:ea typeface="Open Sans"/>
              </a:rPr>
              <a:t>desconhecida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enquanto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água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começa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subir</a:t>
            </a:r>
            <a:r>
              <a:rPr lang="en-US" sz="3400" dirty="0">
                <a:ea typeface="Open Sans"/>
              </a:rPr>
              <a:t> Sem </a:t>
            </a:r>
            <a:r>
              <a:rPr lang="en-US" sz="3400" dirty="0" err="1">
                <a:ea typeface="Open Sans"/>
              </a:rPr>
              <a:t>contexto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inicial</a:t>
            </a:r>
            <a:r>
              <a:rPr lang="en-US" sz="3400" dirty="0">
                <a:ea typeface="Open Sans"/>
              </a:rPr>
              <a:t>  </a:t>
            </a:r>
            <a:r>
              <a:rPr lang="en-US" sz="3400" dirty="0" err="1">
                <a:ea typeface="Open Sans"/>
              </a:rPr>
              <a:t>ele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precisa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explorar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os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cômodos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encontrar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objetos</a:t>
            </a:r>
            <a:r>
              <a:rPr lang="en-US" sz="3400" dirty="0">
                <a:ea typeface="Open Sans"/>
              </a:rPr>
              <a:t> e , </a:t>
            </a:r>
            <a:r>
              <a:rPr lang="en-US" sz="3400" dirty="0" err="1">
                <a:ea typeface="Open Sans"/>
              </a:rPr>
              <a:t>agir</a:t>
            </a:r>
            <a:r>
              <a:rPr lang="en-US" sz="3400" dirty="0">
                <a:ea typeface="Open Sans"/>
              </a:rPr>
              <a:t> antes de ser </a:t>
            </a:r>
            <a:r>
              <a:rPr lang="en-US" sz="3400" dirty="0" err="1">
                <a:ea typeface="Open Sans"/>
              </a:rPr>
              <a:t>submerso</a:t>
            </a:r>
            <a:r>
              <a:rPr lang="en-US" sz="3400" dirty="0">
                <a:ea typeface="Open Sans"/>
              </a:rPr>
              <a:t> . </a:t>
            </a:r>
            <a:endParaRPr lang="pt-BR" dirty="0">
              <a:ea typeface="Open Sans"/>
            </a:endParaRPr>
          </a:p>
          <a:p>
            <a:pPr>
              <a:lnSpc>
                <a:spcPct val="114999"/>
              </a:lnSpc>
              <a:spcBef>
                <a:spcPts val="1200"/>
              </a:spcBef>
            </a:pPr>
            <a:r>
              <a:rPr lang="en-US" sz="3400" dirty="0">
                <a:ea typeface="Open Sans"/>
              </a:rPr>
              <a:t>O </a:t>
            </a:r>
            <a:r>
              <a:rPr lang="en-US" sz="3400" dirty="0" err="1">
                <a:ea typeface="Open Sans"/>
              </a:rPr>
              <a:t>sistema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água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afeta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diretamente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movimentação</a:t>
            </a:r>
            <a:r>
              <a:rPr lang="en-US" sz="3400" dirty="0">
                <a:ea typeface="Open Sans"/>
              </a:rPr>
              <a:t> e o </a:t>
            </a:r>
            <a:r>
              <a:rPr lang="en-US" sz="3400" dirty="0" err="1">
                <a:ea typeface="Open Sans"/>
              </a:rPr>
              <a:t>acesso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itens</a:t>
            </a:r>
            <a:r>
              <a:rPr lang="en-US" sz="3400" dirty="0">
                <a:ea typeface="Open Sans"/>
              </a:rPr>
              <a:t> Quando </a:t>
            </a:r>
            <a:r>
              <a:rPr lang="en-US" sz="3400" dirty="0" err="1">
                <a:ea typeface="Open Sans"/>
              </a:rPr>
              <a:t>submerso</a:t>
            </a:r>
            <a:r>
              <a:rPr lang="en-US" sz="3400" dirty="0">
                <a:ea typeface="Open Sans"/>
              </a:rPr>
              <a:t> o </a:t>
            </a:r>
            <a:r>
              <a:rPr lang="en-US" sz="3400" dirty="0" err="1">
                <a:ea typeface="Open Sans"/>
              </a:rPr>
              <a:t>jogador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tem</a:t>
            </a:r>
            <a:r>
              <a:rPr lang="en-US" sz="3400" dirty="0">
                <a:ea typeface="Open Sans"/>
              </a:rPr>
              <a:t> 15  </a:t>
            </a:r>
            <a:r>
              <a:rPr lang="en-US" sz="3400" dirty="0" err="1">
                <a:ea typeface="Open Sans"/>
              </a:rPr>
              <a:t>segundos</a:t>
            </a:r>
            <a:r>
              <a:rPr lang="en-US" sz="3400" dirty="0">
                <a:ea typeface="Open Sans"/>
              </a:rPr>
              <a:t> antes de </a:t>
            </a:r>
            <a:r>
              <a:rPr lang="en-US" sz="3400" dirty="0" err="1">
                <a:ea typeface="Open Sans"/>
              </a:rPr>
              <a:t>começar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sofrer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dano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posição</a:t>
            </a:r>
            <a:r>
              <a:rPr lang="en-US" sz="3400" dirty="0">
                <a:ea typeface="Open Sans"/>
              </a:rPr>
              <a:t> dos </a:t>
            </a:r>
            <a:r>
              <a:rPr lang="en-US" sz="3400" dirty="0" err="1">
                <a:ea typeface="Open Sans"/>
              </a:rPr>
              <a:t>itens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muda</a:t>
            </a:r>
            <a:r>
              <a:rPr lang="en-US" sz="3400" dirty="0">
                <a:ea typeface="Open Sans"/>
              </a:rPr>
              <a:t> a </a:t>
            </a:r>
            <a:r>
              <a:rPr lang="en-US" sz="3400" dirty="0" err="1">
                <a:ea typeface="Open Sans"/>
              </a:rPr>
              <a:t>cada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partida</a:t>
            </a:r>
            <a:r>
              <a:rPr lang="en-US" sz="3400" dirty="0">
                <a:ea typeface="Open Sans"/>
              </a:rPr>
              <a:t> Um </a:t>
            </a:r>
            <a:r>
              <a:rPr lang="en-US" sz="3400" dirty="0" err="1">
                <a:ea typeface="Open Sans"/>
              </a:rPr>
              <a:t>evento</a:t>
            </a:r>
            <a:r>
              <a:rPr lang="en-US" sz="3400" dirty="0">
                <a:ea typeface="Open Sans"/>
              </a:rPr>
              <a:t> . especial </a:t>
            </a:r>
            <a:r>
              <a:rPr lang="en-US" sz="3400" dirty="0" err="1">
                <a:ea typeface="Open Sans"/>
              </a:rPr>
              <a:t>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explosão</a:t>
            </a:r>
            <a:r>
              <a:rPr lang="en-US" sz="3400" dirty="0">
                <a:ea typeface="Open Sans"/>
              </a:rPr>
              <a:t> do </a:t>
            </a:r>
            <a:r>
              <a:rPr lang="en-US" sz="3400" dirty="0" err="1">
                <a:ea typeface="Open Sans"/>
              </a:rPr>
              <a:t>gerador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apaga</a:t>
            </a:r>
            <a:r>
              <a:rPr lang="en-US" sz="3400" dirty="0">
                <a:ea typeface="Open Sans"/>
              </a:rPr>
              <a:t> as </a:t>
            </a:r>
            <a:r>
              <a:rPr lang="en-US" sz="3400" dirty="0" err="1">
                <a:ea typeface="Open Sans"/>
              </a:rPr>
              <a:t>luzes</a:t>
            </a:r>
            <a:r>
              <a:rPr lang="en-US" sz="3400" dirty="0">
                <a:ea typeface="Open Sans"/>
              </a:rPr>
              <a:t> da casa </a:t>
            </a:r>
            <a:r>
              <a:rPr lang="en-US" sz="3400" dirty="0" err="1">
                <a:ea typeface="Open Sans"/>
              </a:rPr>
              <a:t>forçando</a:t>
            </a:r>
            <a:r>
              <a:rPr lang="en-US" sz="3400" dirty="0">
                <a:ea typeface="Open Sans"/>
              </a:rPr>
              <a:t> o </a:t>
            </a:r>
            <a:r>
              <a:rPr lang="en-US" sz="3400" dirty="0" err="1">
                <a:ea typeface="Open Sans"/>
              </a:rPr>
              <a:t>uso</a:t>
            </a:r>
            <a:r>
              <a:rPr lang="en-US" sz="3400" dirty="0">
                <a:ea typeface="Open Sans"/>
              </a:rPr>
              <a:t> de </a:t>
            </a:r>
            <a:r>
              <a:rPr lang="en-US" sz="3400" dirty="0" err="1">
                <a:ea typeface="Open Sans"/>
              </a:rPr>
              <a:t>lanterna</a:t>
            </a:r>
            <a:r>
              <a:rPr lang="en-US" sz="3400" dirty="0">
                <a:ea typeface="Open Sans"/>
              </a:rPr>
              <a:t> e </a:t>
            </a:r>
            <a:r>
              <a:rPr lang="en-US" sz="3400" dirty="0" err="1">
                <a:ea typeface="Open Sans"/>
              </a:rPr>
              <a:t>reduzindo</a:t>
            </a:r>
            <a:r>
              <a:rPr lang="en-US" sz="3400" dirty="0">
                <a:ea typeface="Open Sans"/>
              </a:rPr>
              <a:t> o campo , de </a:t>
            </a:r>
            <a:r>
              <a:rPr lang="en-US" sz="3400" dirty="0" err="1">
                <a:ea typeface="Open Sans"/>
              </a:rPr>
              <a:t>visão</a:t>
            </a:r>
            <a:r>
              <a:rPr lang="en-US" sz="3400" dirty="0">
                <a:ea typeface="Open Sans"/>
              </a:rPr>
              <a:t> . </a:t>
            </a:r>
            <a:endParaRPr lang="pt-BR" dirty="0">
              <a:ea typeface="Open Sans"/>
            </a:endParaRPr>
          </a:p>
          <a:p>
            <a:pPr>
              <a:lnSpc>
                <a:spcPct val="114999"/>
              </a:lnSpc>
              <a:spcBef>
                <a:spcPts val="1200"/>
              </a:spcBef>
            </a:pPr>
            <a:r>
              <a:rPr lang="en-US" sz="3400" dirty="0">
                <a:ea typeface="Open Sans"/>
              </a:rPr>
              <a:t>O </a:t>
            </a:r>
            <a:r>
              <a:rPr lang="en-US" sz="3400" dirty="0" err="1">
                <a:ea typeface="Open Sans"/>
              </a:rPr>
              <a:t>jogo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não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impõe</a:t>
            </a:r>
            <a:r>
              <a:rPr lang="en-US" sz="3400" dirty="0">
                <a:ea typeface="Open Sans"/>
              </a:rPr>
              <a:t> um </a:t>
            </a:r>
            <a:r>
              <a:rPr lang="en-US" sz="3400" dirty="0" err="1">
                <a:ea typeface="Open Sans"/>
              </a:rPr>
              <a:t>caminho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único</a:t>
            </a:r>
            <a:r>
              <a:rPr lang="en-US" sz="3400" dirty="0">
                <a:ea typeface="Open Sans"/>
              </a:rPr>
              <a:t> o </a:t>
            </a:r>
            <a:r>
              <a:rPr lang="en-US" sz="3400" dirty="0" err="1">
                <a:ea typeface="Open Sans"/>
              </a:rPr>
              <a:t>jogador</a:t>
            </a:r>
            <a:r>
              <a:rPr lang="en-US" sz="3400" dirty="0">
                <a:ea typeface="Open Sans"/>
              </a:rPr>
              <a:t> : </a:t>
            </a:r>
            <a:r>
              <a:rPr lang="en-US" sz="3400" dirty="0" err="1">
                <a:ea typeface="Open Sans"/>
              </a:rPr>
              <a:t>escolhe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sua</a:t>
            </a:r>
            <a:r>
              <a:rPr lang="en-US" sz="3400" dirty="0">
                <a:ea typeface="Open Sans"/>
              </a:rPr>
              <a:t> </a:t>
            </a:r>
            <a:r>
              <a:rPr lang="en-US" sz="3400" dirty="0" err="1">
                <a:ea typeface="Open Sans"/>
              </a:rPr>
              <a:t>estratégia</a:t>
            </a:r>
            <a:r>
              <a:rPr lang="en-US" sz="3400" dirty="0">
                <a:ea typeface="Open Sans"/>
              </a:rPr>
              <a:t> e convive com as </a:t>
            </a:r>
            <a:r>
              <a:rPr lang="en-US" sz="3400" dirty="0" err="1">
                <a:ea typeface="Open Sans"/>
              </a:rPr>
              <a:t>consequências</a:t>
            </a:r>
            <a:r>
              <a:rPr lang="en-US" sz="3400" dirty="0">
                <a:ea typeface="Open Sans"/>
              </a:rPr>
              <a:t> </a:t>
            </a:r>
            <a:endParaRPr lang="pt-BR"/>
          </a:p>
        </p:txBody>
      </p:sp>
      <p:sp>
        <p:nvSpPr>
          <p:cNvPr id="138" name="Google Shape;138;p1"/>
          <p:cNvSpPr txBox="1"/>
          <p:nvPr/>
        </p:nvSpPr>
        <p:spPr>
          <a:xfrm>
            <a:off x="15714839" y="24195810"/>
            <a:ext cx="11652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9" name="Google Shape;139;p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8119730" y="19168678"/>
            <a:ext cx="6435438" cy="5295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m 1" descr="Flood Water">
            <a:extLst>
              <a:ext uri="{FF2B5EF4-FFF2-40B4-BE49-F238E27FC236}">
                <a16:creationId xmlns:a16="http://schemas.microsoft.com/office/drawing/2014/main" id="{33AF872E-3CCF-5C8F-B9C9-9E4F09A733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505544" y="24964773"/>
            <a:ext cx="8190741" cy="42295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Personalizar</PresentationFormat>
  <Slides>1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52</cp:revision>
  <dcterms:created xsi:type="dcterms:W3CDTF">2006-08-16T00:00:00Z</dcterms:created>
  <dcterms:modified xsi:type="dcterms:W3CDTF">2026-05-15T00:07:27Z</dcterms:modified>
</cp:coreProperties>
</file>
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28803600" cy="43205400"/>
  <p:notesSz cx="6858000" cy="9144000"/>
  <p:embeddedFontLst>
    <p:embeddedFont>
      <p:font typeface="Arial Bold" charset="1" panose="020B0704020202020204"/>
      <p:regular r:id="rId7"/>
    </p:embeddedFont>
    <p:embeddedFont>
      <p:font typeface="IBM Plex Sans Condensed" charset="1" panose="020B0506050203000203"/>
      <p:regular r:id="rId8"/>
    </p:embeddedFont>
    <p:embeddedFont>
      <p:font typeface="Arial Bold Italics" charset="1" panose="020B0704020202090204"/>
      <p:regular r:id="rId9"/>
    </p:embeddedFont>
    <p:embeddedFont>
      <p:font typeface="Arial" charset="1" panose="020B0604020202020204"/>
      <p:regular r:id="rId10"/>
    </p:embeddedFont>
    <p:embeddedFont>
      <p:font typeface="IBM Plex Sans" charset="1" panose="020B0503050203000203"/>
      <p:regular r:id="rId11"/>
    </p:embeddedFont>
    <p:embeddedFont>
      <p:font typeface="IBM Plex Sans Bold" charset="1" panose="020B0803050203000203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4F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6779406"/>
            <a:ext cx="28800009" cy="6420602"/>
          </a:xfrm>
          <a:custGeom>
            <a:avLst/>
            <a:gdLst/>
            <a:ahLst/>
            <a:cxnLst/>
            <a:rect r="r" b="b" t="t" l="l"/>
            <a:pathLst>
              <a:path h="6420602" w="28800009">
                <a:moveTo>
                  <a:pt x="0" y="0"/>
                </a:moveTo>
                <a:lnTo>
                  <a:pt x="28800009" y="0"/>
                </a:lnTo>
                <a:lnTo>
                  <a:pt x="28800009" y="6420603"/>
                </a:lnTo>
                <a:lnTo>
                  <a:pt x="0" y="64206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163319" y="34828924"/>
            <a:ext cx="22768560" cy="8371075"/>
            <a:chOff x="0" y="0"/>
            <a:chExt cx="30358080" cy="111614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358079" cy="11161395"/>
            </a:xfrm>
            <a:custGeom>
              <a:avLst/>
              <a:gdLst/>
              <a:ahLst/>
              <a:cxnLst/>
              <a:rect r="r" b="b" t="t" l="l"/>
              <a:pathLst>
                <a:path h="11161395" w="30358079">
                  <a:moveTo>
                    <a:pt x="0" y="0"/>
                  </a:moveTo>
                  <a:lnTo>
                    <a:pt x="30358079" y="0"/>
                  </a:lnTo>
                  <a:lnTo>
                    <a:pt x="30358079" y="11161395"/>
                  </a:lnTo>
                  <a:lnTo>
                    <a:pt x="0" y="11161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7095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-63503" y="-63494"/>
            <a:ext cx="28927358" cy="39382484"/>
          </a:xfrm>
          <a:custGeom>
            <a:avLst/>
            <a:gdLst/>
            <a:ahLst/>
            <a:cxnLst/>
            <a:rect r="r" b="b" t="t" l="l"/>
            <a:pathLst>
              <a:path h="39382484" w="28927358">
                <a:moveTo>
                  <a:pt x="0" y="0"/>
                </a:moveTo>
                <a:lnTo>
                  <a:pt x="28927358" y="0"/>
                </a:lnTo>
                <a:lnTo>
                  <a:pt x="28927358" y="39382484"/>
                </a:lnTo>
                <a:lnTo>
                  <a:pt x="0" y="393824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0" y="1524600"/>
            <a:ext cx="7653957" cy="2453402"/>
            <a:chOff x="0" y="0"/>
            <a:chExt cx="10205276" cy="32712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05339" cy="3271139"/>
            </a:xfrm>
            <a:custGeom>
              <a:avLst/>
              <a:gdLst/>
              <a:ahLst/>
              <a:cxnLst/>
              <a:rect r="r" b="b" t="t" l="l"/>
              <a:pathLst>
                <a:path h="3271139" w="10205339">
                  <a:moveTo>
                    <a:pt x="0" y="0"/>
                  </a:moveTo>
                  <a:lnTo>
                    <a:pt x="10205339" y="0"/>
                  </a:lnTo>
                  <a:lnTo>
                    <a:pt x="10205339" y="3271139"/>
                  </a:lnTo>
                  <a:lnTo>
                    <a:pt x="0" y="32711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1974" t="0" r="0" b="-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3163319" y="3"/>
            <a:ext cx="22768560" cy="9312126"/>
            <a:chOff x="0" y="0"/>
            <a:chExt cx="30358080" cy="124161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0358079" cy="12416155"/>
            </a:xfrm>
            <a:custGeom>
              <a:avLst/>
              <a:gdLst/>
              <a:ahLst/>
              <a:cxnLst/>
              <a:rect r="r" b="b" t="t" l="l"/>
              <a:pathLst>
                <a:path h="12416155" w="30358079">
                  <a:moveTo>
                    <a:pt x="0" y="0"/>
                  </a:moveTo>
                  <a:lnTo>
                    <a:pt x="30358079" y="0"/>
                  </a:lnTo>
                  <a:lnTo>
                    <a:pt x="30358079" y="12416155"/>
                  </a:lnTo>
                  <a:lnTo>
                    <a:pt x="0" y="12416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3674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1014284" y="1711442"/>
            <a:ext cx="7227722" cy="2334235"/>
            <a:chOff x="0" y="0"/>
            <a:chExt cx="9636963" cy="311231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637014" cy="3112262"/>
            </a:xfrm>
            <a:custGeom>
              <a:avLst/>
              <a:gdLst/>
              <a:ahLst/>
              <a:cxnLst/>
              <a:rect r="r" b="b" t="t" l="l"/>
              <a:pathLst>
                <a:path h="3112262" w="9637014">
                  <a:moveTo>
                    <a:pt x="0" y="0"/>
                  </a:moveTo>
                  <a:lnTo>
                    <a:pt x="9637014" y="0"/>
                  </a:lnTo>
                  <a:lnTo>
                    <a:pt x="9637014" y="3112262"/>
                  </a:lnTo>
                  <a:lnTo>
                    <a:pt x="0" y="3112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-1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853783" y="9478661"/>
            <a:ext cx="13994921" cy="10352799"/>
          </a:xfrm>
          <a:custGeom>
            <a:avLst/>
            <a:gdLst/>
            <a:ahLst/>
            <a:cxnLst/>
            <a:rect r="r" b="b" t="t" l="l"/>
            <a:pathLst>
              <a:path h="10352799" w="13994921">
                <a:moveTo>
                  <a:pt x="0" y="0"/>
                </a:moveTo>
                <a:lnTo>
                  <a:pt x="13994920" y="0"/>
                </a:lnTo>
                <a:lnTo>
                  <a:pt x="13994920" y="10352799"/>
                </a:lnTo>
                <a:lnTo>
                  <a:pt x="0" y="1035279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53783" y="19928014"/>
            <a:ext cx="13994197" cy="10110168"/>
          </a:xfrm>
          <a:custGeom>
            <a:avLst/>
            <a:gdLst/>
            <a:ahLst/>
            <a:cxnLst/>
            <a:rect r="r" b="b" t="t" l="l"/>
            <a:pathLst>
              <a:path h="10110168" w="13994197">
                <a:moveTo>
                  <a:pt x="0" y="0"/>
                </a:moveTo>
                <a:lnTo>
                  <a:pt x="13994197" y="0"/>
                </a:lnTo>
                <a:lnTo>
                  <a:pt x="13994197" y="10110169"/>
                </a:lnTo>
                <a:lnTo>
                  <a:pt x="0" y="1011016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22527358" y="36800657"/>
            <a:ext cx="5608434" cy="5641553"/>
            <a:chOff x="0" y="0"/>
            <a:chExt cx="7477912" cy="75220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477887" cy="7522083"/>
            </a:xfrm>
            <a:custGeom>
              <a:avLst/>
              <a:gdLst/>
              <a:ahLst/>
              <a:cxnLst/>
              <a:rect r="r" b="b" t="t" l="l"/>
              <a:pathLst>
                <a:path h="7522083" w="7477887">
                  <a:moveTo>
                    <a:pt x="0" y="0"/>
                  </a:moveTo>
                  <a:lnTo>
                    <a:pt x="7477887" y="0"/>
                  </a:lnTo>
                  <a:lnTo>
                    <a:pt x="7477887" y="7522083"/>
                  </a:lnTo>
                  <a:lnTo>
                    <a:pt x="0" y="75220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6344211" y="19798228"/>
            <a:ext cx="10611716" cy="5971981"/>
            <a:chOff x="0" y="0"/>
            <a:chExt cx="10559999" cy="594287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560050" cy="5942838"/>
            </a:xfrm>
            <a:custGeom>
              <a:avLst/>
              <a:gdLst/>
              <a:ahLst/>
              <a:cxnLst/>
              <a:rect r="r" b="b" t="t" l="l"/>
              <a:pathLst>
                <a:path h="5942838" w="10560050">
                  <a:moveTo>
                    <a:pt x="0" y="0"/>
                  </a:moveTo>
                  <a:lnTo>
                    <a:pt x="10560050" y="0"/>
                  </a:lnTo>
                  <a:lnTo>
                    <a:pt x="10560050" y="5942838"/>
                  </a:lnTo>
                  <a:lnTo>
                    <a:pt x="0" y="5942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5952239" y="20436621"/>
            <a:ext cx="3996035" cy="82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63"/>
              </a:lnSpc>
            </a:pPr>
            <a:r>
              <a:rPr lang="en-US" b="true" sz="475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 PROPOSTA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687480" y="30961936"/>
            <a:ext cx="8192244" cy="82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63"/>
              </a:lnSpc>
            </a:pPr>
            <a:r>
              <a:rPr lang="en-US" b="true" sz="475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TECNOLOGIAS UTILIZADAS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139560" y="31989332"/>
            <a:ext cx="222152" cy="557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1"/>
              </a:lnSpc>
            </a:pPr>
            <a:r>
              <a:rPr lang="en-US" sz="3429" spc="6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9679402" y="31057339"/>
            <a:ext cx="4331791" cy="82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63"/>
              </a:lnSpc>
            </a:pPr>
            <a:r>
              <a:rPr lang="en-US" b="true" sz="475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REFERÊNCIAS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619973" y="6557731"/>
            <a:ext cx="17563654" cy="82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63"/>
              </a:lnSpc>
            </a:pPr>
            <a:r>
              <a:rPr lang="en-US" b="true" sz="475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Guilherme Alves, Thomaz Melo, Luigi Colaneri, Marcos Paulo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437172" y="7570725"/>
            <a:ext cx="21219204" cy="82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63"/>
              </a:lnSpc>
            </a:pPr>
            <a:r>
              <a:rPr lang="en-US" b="true" sz="4759" spc="-4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Orientadores:</a:t>
            </a:r>
            <a:r>
              <a:rPr lang="en-US" b="true" sz="4759" i="true" spc="-42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</a:t>
            </a:r>
            <a:r>
              <a:rPr lang="en-US" sz="4759" spc="-4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Francisco Escobar, Renata Muniz, Joao Trencher, Victor Rosetti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749928" y="9991944"/>
            <a:ext cx="4096345" cy="82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63"/>
              </a:lnSpc>
            </a:pPr>
            <a:r>
              <a:rPr lang="en-US" b="true" sz="475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 PROBLEMA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9750688" y="9991944"/>
            <a:ext cx="4163616" cy="82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63"/>
              </a:lnSpc>
            </a:pPr>
            <a:r>
              <a:rPr lang="en-US" b="true" sz="475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RESULTADOS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999711" y="4389366"/>
            <a:ext cx="10804178" cy="2005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001"/>
              </a:lnSpc>
            </a:pPr>
            <a:r>
              <a:rPr lang="en-US" b="true" sz="1142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FLOOD WATER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50836" y="10938524"/>
            <a:ext cx="12598841" cy="7859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79"/>
              </a:lnSpc>
            </a:pPr>
            <a:r>
              <a:rPr lang="en-US" sz="3699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O desperdício de água é um dos maiores desafios ambientais do Brasil.</a:t>
            </a:r>
            <a:r>
              <a:rPr lang="en-US" b="true" sz="3699" spc="-33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Segundo o Instituto Trata Brasil</a:t>
            </a:r>
            <a:r>
              <a:rPr lang="en-US" sz="3699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, o país perdeu</a:t>
            </a:r>
            <a:r>
              <a:rPr lang="en-US" b="true" sz="3699" spc="-33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5,8 bilhões de metros cúbicos de água tratada em 2023</a:t>
            </a:r>
            <a:r>
              <a:rPr lang="en-US" sz="3699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, volume suficiente para abastecer 50 milhões de pessoas por um ano. </a:t>
            </a:r>
          </a:p>
          <a:p>
            <a:pPr algn="just">
              <a:lnSpc>
                <a:spcPts val="5179"/>
              </a:lnSpc>
            </a:pPr>
          </a:p>
          <a:p>
            <a:pPr algn="just">
              <a:lnSpc>
                <a:spcPts val="5179"/>
              </a:lnSpc>
            </a:pPr>
            <a:r>
              <a:rPr lang="en-US" sz="3699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Isso representa </a:t>
            </a:r>
            <a:r>
              <a:rPr lang="en-US" b="true" sz="3699" spc="-33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40% de toda a água produzida</a:t>
            </a:r>
            <a:r>
              <a:rPr lang="en-US" sz="3699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no país desperdiçada antes de chegar ao consumidor, por vazamentos, erros de medição e ligações clandestinas. Grande parte da população ainda não percebe o impacto real que uma simples torneira aberta ou um cano com vazamento pode causar no abastecimento coletivo.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878431" y="40099602"/>
            <a:ext cx="15046738" cy="874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929"/>
              </a:lnSpc>
            </a:pPr>
            <a:r>
              <a:rPr lang="en-US" b="true" sz="4949" i="true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IV SEMANA FECAP DE TECNOLOGIA - 2026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750513" y="41131560"/>
            <a:ext cx="320564" cy="803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29"/>
              </a:lnSpc>
            </a:pPr>
            <a:r>
              <a:rPr lang="en-US" sz="4949" spc="3959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564660" y="41028433"/>
            <a:ext cx="15674280" cy="845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29"/>
              </a:lnSpc>
            </a:pPr>
            <a:r>
              <a:rPr lang="en-US" sz="4949" spc="-4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Fundação</a:t>
            </a:r>
            <a:r>
              <a:rPr lang="en-US" sz="4949" spc="-4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4949" spc="-4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Escola</a:t>
            </a:r>
            <a:r>
              <a:rPr lang="en-US" sz="4949" spc="-4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4949" spc="-4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de</a:t>
            </a:r>
            <a:r>
              <a:rPr lang="en-US" sz="4949" spc="-4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4949" spc="-4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Comércio</a:t>
            </a:r>
            <a:r>
              <a:rPr lang="en-US" sz="4949" spc="-4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4949" spc="-4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Álvares</a:t>
            </a:r>
            <a:r>
              <a:rPr lang="en-US" sz="4949" spc="-4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4949" spc="-4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Penteado - FECAP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50836" y="21382532"/>
            <a:ext cx="12598841" cy="7202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79"/>
              </a:lnSpc>
            </a:pPr>
            <a:r>
              <a:rPr lang="en-US" sz="3699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Flood</a:t>
            </a:r>
            <a:r>
              <a:rPr lang="en-US" sz="3699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Water propõe uma experiência imersiva em que o jogador sente na pele as consequências de uma simples torneira aberta. </a:t>
            </a:r>
          </a:p>
          <a:p>
            <a:pPr algn="just">
              <a:lnSpc>
                <a:spcPts val="5179"/>
              </a:lnSpc>
            </a:pPr>
          </a:p>
          <a:p>
            <a:pPr algn="just">
              <a:lnSpc>
                <a:spcPts val="5179"/>
              </a:lnSpc>
            </a:pPr>
            <a:r>
              <a:rPr lang="en-US" sz="3699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Ao colocar o jogador dentro de uma casa que está sendo inundada, o jogo inverte a perspectiva comum sobre o desperdício de água, em vez de algo abstrato e distante, a água vira uma ameaça concreta e progressiva. </a:t>
            </a:r>
          </a:p>
          <a:p>
            <a:pPr algn="just">
              <a:lnSpc>
                <a:spcPts val="5179"/>
              </a:lnSpc>
            </a:pPr>
          </a:p>
          <a:p>
            <a:pPr algn="just">
              <a:lnSpc>
                <a:spcPts val="5179"/>
              </a:lnSpc>
            </a:pPr>
            <a:r>
              <a:rPr lang="en-US" sz="3699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 proposta é gerar consciência através da experiência, não da informação.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68483" y="31907848"/>
            <a:ext cx="13059236" cy="7202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79"/>
              </a:lnSpc>
            </a:pPr>
            <a:r>
              <a:rPr lang="en-US" sz="3699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O projeto foi desenvolvido com ferramentas consolidadas no mercado de jogos digitais, garantindo qualidade técnica e organização do código.</a:t>
            </a:r>
          </a:p>
          <a:p>
            <a:pPr algn="l" marL="798829" indent="-399415" lvl="1">
              <a:lnSpc>
                <a:spcPts val="5179"/>
              </a:lnSpc>
              <a:buFont typeface="Arial"/>
              <a:buChar char="•"/>
            </a:pPr>
            <a:r>
              <a:rPr lang="en-US" sz="3699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Uni</a:t>
            </a:r>
            <a:r>
              <a:rPr lang="en-US" sz="3699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ty — engine utilizada para desenvolvimento do jogo em 3D</a:t>
            </a:r>
          </a:p>
          <a:p>
            <a:pPr algn="l" marL="798829" indent="-399415" lvl="1">
              <a:lnSpc>
                <a:spcPts val="5179"/>
              </a:lnSpc>
              <a:buFont typeface="Arial"/>
              <a:buChar char="•"/>
            </a:pPr>
            <a:r>
              <a:rPr lang="en-US" sz="3699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C# — linguagem de programação usada para toda a lógica do jogo</a:t>
            </a:r>
          </a:p>
          <a:p>
            <a:pPr algn="l" marL="798829" indent="-399415" lvl="1">
              <a:lnSpc>
                <a:spcPts val="5179"/>
              </a:lnSpc>
              <a:buFont typeface="Arial"/>
              <a:buChar char="•"/>
            </a:pPr>
            <a:r>
              <a:rPr lang="en-US" sz="3699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Visual Studio Code — editor de código utilizado pelo grupo</a:t>
            </a:r>
          </a:p>
          <a:p>
            <a:pPr algn="l" marL="798829" indent="-399415" lvl="1">
              <a:lnSpc>
                <a:spcPts val="5179"/>
              </a:lnSpc>
              <a:buFont typeface="Arial"/>
              <a:buChar char="•"/>
            </a:pPr>
            <a:r>
              <a:rPr lang="en-US" sz="3699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GitHub — usado para controle de versão e organização do projeto entre os integrantes</a:t>
            </a:r>
          </a:p>
          <a:p>
            <a:pPr algn="l">
              <a:lnSpc>
                <a:spcPts val="5179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15927402" y="32165175"/>
            <a:ext cx="11835792" cy="219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7"/>
              </a:lnSpc>
            </a:pPr>
            <a:r>
              <a:rPr lang="en-US" sz="3105" spc="-27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INSTITUTO TRATA BRASIL. Estudo de Perdas de Água 2025 (SINISA, 2023).</a:t>
            </a:r>
          </a:p>
          <a:p>
            <a:pPr algn="l">
              <a:lnSpc>
                <a:spcPts val="4347"/>
              </a:lnSpc>
            </a:pPr>
            <a:r>
              <a:rPr lang="en-US" sz="3105" spc="-27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Disponível em: https://tratabrasil.org.br/perdas-de-agua-2025/</a:t>
            </a:r>
          </a:p>
          <a:p>
            <a:pPr algn="l">
              <a:lnSpc>
                <a:spcPts val="4347"/>
              </a:lnSpc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15927402" y="10919658"/>
            <a:ext cx="11445333" cy="7202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79"/>
              </a:lnSpc>
            </a:pPr>
            <a:r>
              <a:rPr lang="en-US" sz="3699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Ao longo</a:t>
            </a:r>
            <a:r>
              <a:rPr lang="en-US" sz="3699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da partida, o jogador percebe como a água transforma completamente o ambiente ao seu</a:t>
            </a:r>
            <a:r>
              <a:rPr lang="en-US" sz="3699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re</a:t>
            </a:r>
            <a:r>
              <a:rPr lang="en-US" sz="3699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do</a:t>
            </a:r>
            <a:r>
              <a:rPr lang="en-US" sz="3699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r,</a:t>
            </a:r>
            <a:r>
              <a:rPr lang="en-US" sz="3699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3699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</a:t>
            </a:r>
            <a:r>
              <a:rPr lang="en-US" sz="3699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</a:t>
            </a:r>
            <a:r>
              <a:rPr lang="en-US" sz="3699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mi</a:t>
            </a:r>
            <a:r>
              <a:rPr lang="en-US" sz="3699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ta</a:t>
            </a:r>
            <a:r>
              <a:rPr lang="en-US" sz="3699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ndo</a:t>
            </a:r>
            <a:r>
              <a:rPr lang="en-US" sz="3699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3699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seu</a:t>
            </a:r>
            <a:r>
              <a:rPr lang="en-US" sz="3699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 movimentos, bloqueando </a:t>
            </a:r>
            <a:r>
              <a:rPr lang="en-US" sz="3699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o</a:t>
            </a:r>
            <a:r>
              <a:rPr lang="en-US" sz="3699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3699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ac</a:t>
            </a:r>
            <a:r>
              <a:rPr lang="en-US" sz="3699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es</a:t>
            </a:r>
            <a:r>
              <a:rPr lang="en-US" sz="3699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so</a:t>
            </a:r>
            <a:r>
              <a:rPr lang="en-US" sz="3699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3699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  <a:r>
              <a:rPr lang="en-US" sz="3699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3699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obj</a:t>
            </a:r>
            <a:r>
              <a:rPr lang="en-US" sz="3699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etos </a:t>
            </a:r>
            <a:r>
              <a:rPr lang="en-US" sz="3699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 </a:t>
            </a:r>
            <a:r>
              <a:rPr lang="en-US" sz="3699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</a:t>
            </a:r>
            <a:r>
              <a:rPr lang="en-US" sz="3699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olo</a:t>
            </a:r>
            <a:r>
              <a:rPr lang="en-US" sz="3699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</a:t>
            </a:r>
            <a:r>
              <a:rPr lang="en-US" sz="3699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and</a:t>
            </a:r>
            <a:r>
              <a:rPr lang="en-US" sz="3699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o </a:t>
            </a:r>
            <a:r>
              <a:rPr lang="en-US" sz="3699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</a:t>
            </a:r>
            <a:r>
              <a:rPr lang="en-US" sz="3699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ua </a:t>
            </a:r>
            <a:r>
              <a:rPr lang="en-US" sz="3699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sob</a:t>
            </a:r>
            <a:r>
              <a:rPr lang="en-US" sz="3699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</a:t>
            </a:r>
            <a:r>
              <a:rPr lang="en-US" sz="3699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evivênci</a:t>
            </a:r>
            <a:r>
              <a:rPr lang="en-US" sz="3699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 em </a:t>
            </a:r>
            <a:r>
              <a:rPr lang="en-US" sz="3699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risc</a:t>
            </a:r>
            <a:r>
              <a:rPr lang="en-US" sz="3699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o.</a:t>
            </a:r>
          </a:p>
          <a:p>
            <a:pPr algn="just">
              <a:lnSpc>
                <a:spcPts val="5179"/>
              </a:lnSpc>
            </a:pPr>
          </a:p>
          <a:p>
            <a:pPr algn="just">
              <a:lnSpc>
                <a:spcPts val="5179"/>
              </a:lnSpc>
            </a:pPr>
            <a:r>
              <a:rPr lang="en-US" sz="3699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Essa vivência cria uma conexão emocional com o tema que dificilmente </a:t>
            </a:r>
            <a:r>
              <a:rPr lang="en-US" sz="3699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seri</a:t>
            </a:r>
            <a:r>
              <a:rPr lang="en-US" sz="3699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 a</a:t>
            </a:r>
            <a:r>
              <a:rPr lang="en-US" sz="3699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lc</a:t>
            </a:r>
            <a:r>
              <a:rPr lang="en-US" sz="3699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  <a:r>
              <a:rPr lang="en-US" sz="3699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nça</a:t>
            </a:r>
            <a:r>
              <a:rPr lang="en-US" sz="3699" spc="-3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da por campanhas educativas tradicionais. O jogo atua como uma ferramenta de conscientização ambiental, usando o entretenimento para plantar uma reflexão real sobre as consequências do desperdício de água.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389651" y="25815140"/>
            <a:ext cx="9994597" cy="357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9"/>
              </a:lnSpc>
            </a:pPr>
            <a:r>
              <a:rPr lang="en-US" sz="2106" spc="-1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Fon</a:t>
            </a:r>
            <a:r>
              <a:rPr lang="en-US" sz="2106" spc="-1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te: EQUIPE POR ÁGUA ABAIXO. Flood W</a:t>
            </a:r>
            <a:r>
              <a:rPr lang="en-US" sz="2106" spc="-1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  <a:r>
              <a:rPr lang="en-US" sz="2106" spc="-1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</a:t>
            </a:r>
            <a:r>
              <a:rPr lang="en-US" sz="2106" spc="-1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</a:t>
            </a:r>
            <a:r>
              <a:rPr lang="en-US" sz="2106" spc="-1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 — A</a:t>
            </a:r>
            <a:r>
              <a:rPr lang="en-US" sz="2106" spc="-1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</a:t>
            </a:r>
            <a:r>
              <a:rPr lang="en-US" sz="2106" spc="-1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te de </a:t>
            </a:r>
            <a:r>
              <a:rPr lang="en-US" sz="2106" spc="-1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</a:t>
            </a:r>
            <a:r>
              <a:rPr lang="en-US" sz="2106" spc="-1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apa do jogo.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DAHJwX-_Uas</dc:identifier>
  <dcterms:modified xsi:type="dcterms:W3CDTF">2011-08-01T06:04:30Z</dcterms:modified>
  <cp:revision>1</cp:revision>
  <dc:title>Banner_FECAP_CCOMP1_FLOODWATER.pdf</dc:title>
</cp:coreProperties>
</file>